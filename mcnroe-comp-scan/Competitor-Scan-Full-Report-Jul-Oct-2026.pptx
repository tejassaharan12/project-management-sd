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of 3 perfumes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BlaBliBlu</c:v>
                  </c:pt>
                  <c:pt idx="1">
                    <c:v>Denver</c:v>
                  </c:pt>
                  <c:pt idx="2">
                    <c:v>Bellavita</c:v>
                  </c:pt>
                  <c:pt idx="3">
                    <c:v>Ajmal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650</c:v>
                </c:pt>
                <c:pt idx="1">
                  <c:v>1000</c:v>
                </c:pt>
                <c:pt idx="2">
                  <c:v>1298</c:v>
                </c:pt>
                <c:pt idx="3">
                  <c:v>1799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%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Bellavita Beast Mode</c:v>
                  </c:pt>
                  <c:pt idx="1">
                    <c:v>BlaBliBlu</c:v>
                  </c:pt>
                  <c:pt idx="2">
                    <c:v>Secret Alchemist</c:v>
                  </c:pt>
                  <c:pt idx="3">
                    <c:v>Denver Rizz God</c:v>
                  </c:pt>
                  <c:pt idx="4">
                    <c:v>Denver Intense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 ads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Beardo</c:v>
                  </c:pt>
                  <c:pt idx="1">
                    <c:v>BlaBliBlu</c:v>
                  </c:pt>
                  <c:pt idx="2">
                    <c:v>Bellavita</c:v>
                  </c:pt>
                  <c:pt idx="3">
                    <c:v>Secret Alchemist</c:v>
                  </c:pt>
                  <c:pt idx="4">
                    <c:v>Ajmal</c:v>
                  </c:pt>
                  <c:pt idx="5">
                    <c:v>Fraganote</c:v>
                  </c:pt>
                  <c:pt idx="6">
                    <c:v>Denver</c:v>
                  </c:pt>
                  <c:pt idx="7">
                    <c:v>Plum</c:v>
                  </c:pt>
                  <c:pt idx="8">
                    <c:v>Engage</c:v>
                  </c:pt>
                  <c:pt idx="9">
                    <c:v>indē wild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960</c:v>
                </c:pt>
                <c:pt idx="1">
                  <c:v>429</c:v>
                </c:pt>
                <c:pt idx="2">
                  <c:v>422</c:v>
                </c:pt>
                <c:pt idx="3">
                  <c:v>373</c:v>
                </c:pt>
                <c:pt idx="4">
                  <c:v>339</c:v>
                </c:pt>
                <c:pt idx="5">
                  <c:v>231</c:v>
                </c:pt>
                <c:pt idx="6">
                  <c:v>219</c:v>
                </c:pt>
                <c:pt idx="7">
                  <c:v>215</c:v>
                </c:pt>
                <c:pt idx="8">
                  <c:v>127</c:v>
                </c:pt>
                <c:pt idx="9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Denver</c:v>
                  </c:pt>
                  <c:pt idx="1">
                    <c:v>EM5</c:v>
                  </c:pt>
                  <c:pt idx="2">
                    <c:v>indē wild</c:v>
                  </c:pt>
                  <c:pt idx="3">
                    <c:v>Fraganote</c:v>
                  </c:pt>
                  <c:pt idx="4">
                    <c:v>BlaBliBlu</c:v>
                  </c:pt>
                  <c:pt idx="5">
                    <c:v>Secret Alchemist</c:v>
                  </c:pt>
                  <c:pt idx="6">
                    <c:v>Engage</c:v>
                  </c:pt>
                  <c:pt idx="7">
                    <c:v>Ajmal</c:v>
                  </c:pt>
                  <c:pt idx="8">
                    <c:v>Park Avenue</c:v>
                  </c:pt>
                  <c:pt idx="9">
                    <c:v>Bellavita</c:v>
                  </c:pt>
                  <c:pt idx="10">
                    <c:v>Beardo</c:v>
                  </c:pt>
                  <c:pt idx="11">
                    <c:v>Plum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</c:v>
                </c:pt>
                <c:pt idx="1">
                  <c:v>0.23</c:v>
                </c:pt>
                <c:pt idx="2">
                  <c:v>0.16</c:v>
                </c:pt>
                <c:pt idx="3">
                  <c:v>0.15</c:v>
                </c:pt>
                <c:pt idx="4">
                  <c:v>0.12</c:v>
                </c:pt>
                <c:pt idx="5">
                  <c:v>0.11</c:v>
                </c:pt>
                <c:pt idx="6">
                  <c:v>0.11</c:v>
                </c:pt>
                <c:pt idx="7">
                  <c:v>0.1</c:v>
                </c:pt>
                <c:pt idx="8">
                  <c:v>0.06</c:v>
                </c:pt>
                <c:pt idx="9">
                  <c:v>0.04</c:v>
                </c:pt>
                <c:pt idx="10">
                  <c:v>0.04</c:v>
                </c:pt>
                <c:pt idx="11">
                  <c:v>0.03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Engage</c:v>
                  </c:pt>
                  <c:pt idx="1">
                    <c:v>Fraganote</c:v>
                  </c:pt>
                  <c:pt idx="2">
                    <c:v>Beardo</c:v>
                  </c:pt>
                  <c:pt idx="3">
                    <c:v>Ajmal</c:v>
                  </c:pt>
                  <c:pt idx="4">
                    <c:v>BlaBliBlu</c:v>
                  </c:pt>
                  <c:pt idx="5">
                    <c:v>indē wild</c:v>
                  </c:pt>
                  <c:pt idx="6">
                    <c:v>Denver</c:v>
                  </c:pt>
                  <c:pt idx="7">
                    <c:v>Plum</c:v>
                  </c:pt>
                  <c:pt idx="8">
                    <c:v>EM5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5</c:v>
                </c:pt>
                <c:pt idx="2">
                  <c:v>3.6</c:v>
                </c:pt>
                <c:pt idx="3">
                  <c:v>3.6</c:v>
                </c:pt>
                <c:pt idx="4">
                  <c:v>1.6</c:v>
                </c:pt>
                <c:pt idx="5">
                  <c:v>0.9</c:v>
                </c:pt>
                <c:pt idx="6">
                  <c:v>0.8</c:v>
                </c:pt>
                <c:pt idx="7">
                  <c:v>0.3</c:v>
                </c:pt>
                <c:pt idx="8">
                  <c:v>0.2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7A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Beardo (+23%)</c:v>
                  </c:pt>
                  <c:pt idx="1">
                    <c:v>Bellavita (+1%)</c:v>
                  </c:pt>
                  <c:pt idx="2">
                    <c:v>Ajmal (+39%)</c:v>
                  </c:pt>
                  <c:pt idx="3">
                    <c:v>Denver (+11%)</c:v>
                  </c:pt>
                  <c:pt idx="4">
                    <c:v>Secret Alchemist (+102%)</c:v>
                  </c:pt>
                  <c:pt idx="5">
                    <c:v>indē wild (−8%)</c:v>
                  </c:pt>
                  <c:pt idx="6">
                    <c:v>BlaBliBlu (+45%)</c:v>
                  </c:pt>
                  <c:pt idx="7">
                    <c:v>Fraganote (+15%)</c:v>
                  </c:pt>
                  <c:pt idx="8">
                    <c:v>EM5 (+23%)</c:v>
                  </c:pt>
                  <c:pt idx="9">
                    <c:v>Plum (−37%)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215</c:v>
                </c:pt>
                <c:pt idx="1">
                  <c:v>100</c:v>
                </c:pt>
                <c:pt idx="2">
                  <c:v>69</c:v>
                </c:pt>
                <c:pt idx="3">
                  <c:v>44</c:v>
                </c:pt>
                <c:pt idx="4">
                  <c:v>24</c:v>
                </c:pt>
                <c:pt idx="5">
                  <c:v>20</c:v>
                </c:pt>
                <c:pt idx="6">
                  <c:v>16</c:v>
                </c:pt>
                <c:pt idx="7">
                  <c:v>12</c:v>
                </c:pt>
                <c:pt idx="8">
                  <c:v>11</c:v>
                </c:pt>
                <c:pt idx="9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A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682182016627692" TargetMode="External"/><Relationship Id="rId3" Type="http://schemas.openxmlformats.org/officeDocument/2006/relationships/hyperlink" Target="https://www.facebook.com/ads/library/?id=1682182016627692" TargetMode="External"/><Relationship Id="rId5" Type="http://schemas.openxmlformats.org/officeDocument/2006/relationships/hyperlink" Target="https://www.facebook.com/ads/library/?id=1120945223949430" TargetMode="External"/><Relationship Id="rId6" Type="http://schemas.openxmlformats.org/officeDocument/2006/relationships/hyperlink" Target="https://www.facebook.com/ads/library/?id=1120945223949430" TargetMode="External"/><Relationship Id="rId8" Type="http://schemas.openxmlformats.org/officeDocument/2006/relationships/hyperlink" Target="https://www.facebook.com/ads/library/?id=1099477846400349" TargetMode="External"/><Relationship Id="rId9" Type="http://schemas.openxmlformats.org/officeDocument/2006/relationships/hyperlink" Target="https://www.facebook.com/ads/library/?id=1099477846400349" TargetMode="External"/><Relationship Id="rId11" Type="http://schemas.openxmlformats.org/officeDocument/2006/relationships/hyperlink" Target="https://www.facebook.com/ads/library/?id=1857699968551871" TargetMode="External"/><Relationship Id="rId12" Type="http://schemas.openxmlformats.org/officeDocument/2006/relationships/hyperlink" Target="https://www.facebook.com/ads/library/?id=1857699968551871" TargetMode="External"/><Relationship Id="rId1" Type="http://schemas.openxmlformats.org/officeDocument/2006/relationships/image" Target="../media/image-7-1.jpg"/><Relationship Id="rId4" Type="http://schemas.openxmlformats.org/officeDocument/2006/relationships/image" Target="../media/image-7-2.jpg"/><Relationship Id="rId7" Type="http://schemas.openxmlformats.org/officeDocument/2006/relationships/image" Target="../media/image-7-3.jpg"/><Relationship Id="rId10" Type="http://schemas.openxmlformats.org/officeDocument/2006/relationships/image" Target="../media/image-7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s/library/?id=1056971747174261" TargetMode="External"/><Relationship Id="rId5" Type="http://schemas.openxmlformats.org/officeDocument/2006/relationships/hyperlink" Target="https://www.facebook.com/ads/library/?id=4368131670107780" TargetMode="External"/><Relationship Id="rId6" Type="http://schemas.openxmlformats.org/officeDocument/2006/relationships/hyperlink" Target="https://www.facebook.com/ads/library/?id=1056971747174261" TargetMode="External"/><Relationship Id="rId7" Type="http://schemas.openxmlformats.org/officeDocument/2006/relationships/hyperlink" Target="https://www.facebook.com/ads/library/?id=4368131670107780" TargetMode="External"/><Relationship Id="rId1" Type="http://schemas.openxmlformats.org/officeDocument/2006/relationships/chart" Target="/ppt/charts/chart1.xml"/><Relationship Id="rId2" Type="http://schemas.openxmlformats.org/officeDocument/2006/relationships/image" Target="../media/image-8-1.jpg"/><Relationship Id="rId4" Type="http://schemas.openxmlformats.org/officeDocument/2006/relationships/image" Target="../media/image-8-2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ads/library/?id=1624086922459794" TargetMode="External"/><Relationship Id="rId4" Type="http://schemas.openxmlformats.org/officeDocument/2006/relationships/hyperlink" Target="https://www.facebook.com/ads/library/?id=1624086922459794" TargetMode="External"/><Relationship Id="rId1" Type="http://schemas.openxmlformats.org/officeDocument/2006/relationships/chart" Target="/ppt/charts/chart2.xml"/><Relationship Id="rId2" Type="http://schemas.openxmlformats.org/officeDocument/2006/relationships/image" Target="../media/image-9-1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javNQTsed/" TargetMode="External"/><Relationship Id="rId3" Type="http://schemas.openxmlformats.org/officeDocument/2006/relationships/hyperlink" Target="https://www.instagram.com/reel/DdjavNQTsed/" TargetMode="External"/><Relationship Id="rId5" Type="http://schemas.openxmlformats.org/officeDocument/2006/relationships/hyperlink" Target="https://www.facebook.com/ads/library/?id=3321636538023864" TargetMode="External"/><Relationship Id="rId6" Type="http://schemas.openxmlformats.org/officeDocument/2006/relationships/hyperlink" Target="https://www.facebook.com/ads/library/?id=3321636538023864" TargetMode="External"/><Relationship Id="rId8" Type="http://schemas.openxmlformats.org/officeDocument/2006/relationships/hyperlink" Target="https://www.facebook.com/ads/library/?id=1386431570364820" TargetMode="External"/><Relationship Id="rId9" Type="http://schemas.openxmlformats.org/officeDocument/2006/relationships/hyperlink" Target="https://www.facebook.com/ads/library/?id=1386431570364820" TargetMode="External"/><Relationship Id="rId11" Type="http://schemas.openxmlformats.org/officeDocument/2006/relationships/hyperlink" Target="https://www.youtube.com/watch?v=_kFW1VDYPAA" TargetMode="External"/><Relationship Id="rId12" Type="http://schemas.openxmlformats.org/officeDocument/2006/relationships/hyperlink" Target="https://www.youtube.com/watch?v=_kFW1VDYPAA" TargetMode="External"/><Relationship Id="rId1" Type="http://schemas.openxmlformats.org/officeDocument/2006/relationships/image" Target="../media/image-10-1.jpg"/><Relationship Id="rId4" Type="http://schemas.openxmlformats.org/officeDocument/2006/relationships/image" Target="../media/image-10-2.jpg"/><Relationship Id="rId7" Type="http://schemas.openxmlformats.org/officeDocument/2006/relationships/image" Target="../media/image-10-3.jpg"/><Relationship Id="rId10" Type="http://schemas.openxmlformats.org/officeDocument/2006/relationships/image" Target="../media/image-10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504595238140864" TargetMode="External"/><Relationship Id="rId3" Type="http://schemas.openxmlformats.org/officeDocument/2006/relationships/hyperlink" Target="https://www.facebook.com/ads/library/?id=1504595238140864" TargetMode="External"/><Relationship Id="rId5" Type="http://schemas.openxmlformats.org/officeDocument/2006/relationships/hyperlink" Target="https://www.facebook.com/ads/library/?id=1424103276286535" TargetMode="External"/><Relationship Id="rId6" Type="http://schemas.openxmlformats.org/officeDocument/2006/relationships/hyperlink" Target="https://www.facebook.com/ads/library/?id=1424103276286535" TargetMode="External"/><Relationship Id="rId8" Type="http://schemas.openxmlformats.org/officeDocument/2006/relationships/hyperlink" Target="https://www.facebook.com/ads/library/?id=1067788085734527" TargetMode="External"/><Relationship Id="rId9" Type="http://schemas.openxmlformats.org/officeDocument/2006/relationships/hyperlink" Target="https://www.facebook.com/ads/library/?id=1067788085734527" TargetMode="External"/><Relationship Id="rId11" Type="http://schemas.openxmlformats.org/officeDocument/2006/relationships/hyperlink" Target="https://www.facebook.com/ads/library/?id=1061679276873849" TargetMode="External"/><Relationship Id="rId12" Type="http://schemas.openxmlformats.org/officeDocument/2006/relationships/hyperlink" Target="https://www.facebook.com/ads/library/?id=1061679276873849" TargetMode="External"/><Relationship Id="rId1" Type="http://schemas.openxmlformats.org/officeDocument/2006/relationships/image" Target="../media/image-11-1.jpg"/><Relationship Id="rId4" Type="http://schemas.openxmlformats.org/officeDocument/2006/relationships/image" Target="../media/image-11-2.jpg"/><Relationship Id="rId7" Type="http://schemas.openxmlformats.org/officeDocument/2006/relationships/image" Target="../media/image-11-3.jpg"/><Relationship Id="rId10" Type="http://schemas.openxmlformats.org/officeDocument/2006/relationships/image" Target="../media/image-11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jgKb2ToKd/" TargetMode="External"/><Relationship Id="rId3" Type="http://schemas.openxmlformats.org/officeDocument/2006/relationships/hyperlink" Target="https://www.instagram.com/reel/DdjgKb2ToKd/" TargetMode="External"/><Relationship Id="rId1" Type="http://schemas.openxmlformats.org/officeDocument/2006/relationships/image" Target="../media/image-1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eB_bpOkZ5x/" TargetMode="External"/><Relationship Id="rId3" Type="http://schemas.openxmlformats.org/officeDocument/2006/relationships/hyperlink" Target="https://www.instagram.com/p/DeB_bpOkZ5x/" TargetMode="External"/><Relationship Id="rId5" Type="http://schemas.openxmlformats.org/officeDocument/2006/relationships/hyperlink" Target="https://www.instagram.com/reel/DcykcH-ul7B/" TargetMode="External"/><Relationship Id="rId6" Type="http://schemas.openxmlformats.org/officeDocument/2006/relationships/hyperlink" Target="https://www.instagram.com/reel/DcykcH-ul7B/" TargetMode="External"/><Relationship Id="rId8" Type="http://schemas.openxmlformats.org/officeDocument/2006/relationships/hyperlink" Target="https://www.instagram.com/reel/DdtdGB1pPxw/" TargetMode="External"/><Relationship Id="rId9" Type="http://schemas.openxmlformats.org/officeDocument/2006/relationships/hyperlink" Target="https://www.instagram.com/reel/DdtdGB1pPxw/" TargetMode="External"/><Relationship Id="rId1" Type="http://schemas.openxmlformats.org/officeDocument/2006/relationships/image" Target="../media/image-22-1.jpg"/><Relationship Id="rId4" Type="http://schemas.openxmlformats.org/officeDocument/2006/relationships/image" Target="../media/image-22-2.jpg"/><Relationship Id="rId7" Type="http://schemas.openxmlformats.org/officeDocument/2006/relationships/image" Target="../media/image-22-3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pHySVBnido" TargetMode="External"/><Relationship Id="rId4" Type="http://schemas.openxmlformats.org/officeDocument/2006/relationships/hyperlink" Target="https://www.youtube.com/watch?v=TpHySVBnido" TargetMode="External"/><Relationship Id="rId6" Type="http://schemas.openxmlformats.org/officeDocument/2006/relationships/hyperlink" Target="https://www.youtube.com/watch?v=AbEH-c62jwA" TargetMode="External"/><Relationship Id="rId7" Type="http://schemas.openxmlformats.org/officeDocument/2006/relationships/hyperlink" Target="https://www.youtube.com/watch?v=AbEH-c62jwA" TargetMode="External"/><Relationship Id="rId1" Type="http://schemas.openxmlformats.org/officeDocument/2006/relationships/chart" Target="/ppt/charts/chart5.xml"/><Relationship Id="rId2" Type="http://schemas.openxmlformats.org/officeDocument/2006/relationships/image" Target="../media/image-24-1.jpg"/><Relationship Id="rId5" Type="http://schemas.openxmlformats.org/officeDocument/2006/relationships/image" Target="../media/image-24-2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eB_bpOkZ5x/" TargetMode="External"/><Relationship Id="rId3" Type="http://schemas.openxmlformats.org/officeDocument/2006/relationships/hyperlink" Target="https://www.instagram.com/p/DeB_bpOkZ5x/" TargetMode="External"/><Relationship Id="rId5" Type="http://schemas.openxmlformats.org/officeDocument/2006/relationships/hyperlink" Target="https://www.facebook.com/ads/library/?id=1682182016627692" TargetMode="External"/><Relationship Id="rId6" Type="http://schemas.openxmlformats.org/officeDocument/2006/relationships/hyperlink" Target="https://www.facebook.com/ads/library/?id=1682182016627692" TargetMode="External"/><Relationship Id="rId1" Type="http://schemas.openxmlformats.org/officeDocument/2006/relationships/image" Target="../media/image-28-1.jpg"/><Relationship Id="rId4" Type="http://schemas.openxmlformats.org/officeDocument/2006/relationships/image" Target="../media/image-28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javNQTsed/" TargetMode="External"/><Relationship Id="rId3" Type="http://schemas.openxmlformats.org/officeDocument/2006/relationships/hyperlink" Target="https://www.instagram.com/reel/DdjavNQTsed/" TargetMode="External"/><Relationship Id="rId5" Type="http://schemas.openxmlformats.org/officeDocument/2006/relationships/hyperlink" Target="https://www.facebook.com/ads/library/?id=1120945223949430" TargetMode="External"/><Relationship Id="rId6" Type="http://schemas.openxmlformats.org/officeDocument/2006/relationships/hyperlink" Target="https://www.facebook.com/ads/library/?id=1120945223949430" TargetMode="External"/><Relationship Id="rId1" Type="http://schemas.openxmlformats.org/officeDocument/2006/relationships/image" Target="../media/image-29-1.jpg"/><Relationship Id="rId4" Type="http://schemas.openxmlformats.org/officeDocument/2006/relationships/image" Target="../media/image-29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857699968551871" TargetMode="External"/><Relationship Id="rId3" Type="http://schemas.openxmlformats.org/officeDocument/2006/relationships/hyperlink" Target="https://www.facebook.com/ads/library/?id=1857699968551871" TargetMode="External"/><Relationship Id="rId5" Type="http://schemas.openxmlformats.org/officeDocument/2006/relationships/hyperlink" Target="https://www.facebook.com/ads/library/?id=1424103276286535" TargetMode="External"/><Relationship Id="rId6" Type="http://schemas.openxmlformats.org/officeDocument/2006/relationships/hyperlink" Target="https://www.facebook.com/ads/library/?id=1424103276286535" TargetMode="External"/><Relationship Id="rId1" Type="http://schemas.openxmlformats.org/officeDocument/2006/relationships/image" Target="../media/image-30-1.jpg"/><Relationship Id="rId4" Type="http://schemas.openxmlformats.org/officeDocument/2006/relationships/image" Target="../media/image-30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cykcH-ul7B/" TargetMode="External"/><Relationship Id="rId3" Type="http://schemas.openxmlformats.org/officeDocument/2006/relationships/hyperlink" Target="https://www.instagram.com/reel/DcykcH-ul7B/" TargetMode="External"/><Relationship Id="rId5" Type="http://schemas.openxmlformats.org/officeDocument/2006/relationships/hyperlink" Target="https://www.instagram.com/reel/DdjgKb2ToKd/" TargetMode="External"/><Relationship Id="rId6" Type="http://schemas.openxmlformats.org/officeDocument/2006/relationships/hyperlink" Target="https://www.instagram.com/reel/DdjgKb2ToKd/" TargetMode="External"/><Relationship Id="rId1" Type="http://schemas.openxmlformats.org/officeDocument/2006/relationships/image" Target="../media/image-31-1.jpg"/><Relationship Id="rId4" Type="http://schemas.openxmlformats.org/officeDocument/2006/relationships/image" Target="../media/image-31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1504595238140864" TargetMode="External"/><Relationship Id="rId3" Type="http://schemas.openxmlformats.org/officeDocument/2006/relationships/hyperlink" Target="https://www.facebook.com/ads/library/?id=1504595238140864" TargetMode="External"/><Relationship Id="rId5" Type="http://schemas.openxmlformats.org/officeDocument/2006/relationships/hyperlink" Target="https://www.instagram.com/p/DdjSQaAkwh2/" TargetMode="External"/><Relationship Id="rId6" Type="http://schemas.openxmlformats.org/officeDocument/2006/relationships/hyperlink" Target="https://www.instagram.com/p/DdjSQaAkwh2/" TargetMode="External"/><Relationship Id="rId1" Type="http://schemas.openxmlformats.org/officeDocument/2006/relationships/image" Target="../media/image-32-1.jpg"/><Relationship Id="rId4" Type="http://schemas.openxmlformats.org/officeDocument/2006/relationships/image" Target="../media/image-32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dtdGB1pPxw/" TargetMode="External"/><Relationship Id="rId3" Type="http://schemas.openxmlformats.org/officeDocument/2006/relationships/hyperlink" Target="https://www.instagram.com/reel/DdtdGB1pPxw/" TargetMode="External"/><Relationship Id="rId5" Type="http://schemas.openxmlformats.org/officeDocument/2006/relationships/hyperlink" Target="https://www.facebook.com/ads/library/?id=1376778134636118" TargetMode="External"/><Relationship Id="rId6" Type="http://schemas.openxmlformats.org/officeDocument/2006/relationships/hyperlink" Target="https://www.facebook.com/ads/library/?id=1376778134636118" TargetMode="External"/><Relationship Id="rId1" Type="http://schemas.openxmlformats.org/officeDocument/2006/relationships/image" Target="../media/image-33-1.jpg"/><Relationship Id="rId4" Type="http://schemas.openxmlformats.org/officeDocument/2006/relationships/image" Target="../media/image-33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bxsnm6yUCE/" TargetMode="External"/><Relationship Id="rId3" Type="http://schemas.openxmlformats.org/officeDocument/2006/relationships/hyperlink" Target="https://www.instagram.com/p/Dbxsnm6yUCE/" TargetMode="External"/><Relationship Id="rId1" Type="http://schemas.openxmlformats.org/officeDocument/2006/relationships/image" Target="../media/image-34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2158586418409820" TargetMode="External"/><Relationship Id="rId3" Type="http://schemas.openxmlformats.org/officeDocument/2006/relationships/hyperlink" Target="https://www.facebook.com/ads/library/?id=2158586418409820" TargetMode="External"/><Relationship Id="rId5" Type="http://schemas.openxmlformats.org/officeDocument/2006/relationships/hyperlink" Target="https://www.youtube.com/watch?v=TpHySVBnido" TargetMode="External"/><Relationship Id="rId6" Type="http://schemas.openxmlformats.org/officeDocument/2006/relationships/hyperlink" Target="https://www.youtube.com/watch?v=TpHySVBnido" TargetMode="External"/><Relationship Id="rId1" Type="http://schemas.openxmlformats.org/officeDocument/2006/relationships/image" Target="../media/image-35-1.jpg"/><Relationship Id="rId4" Type="http://schemas.openxmlformats.org/officeDocument/2006/relationships/image" Target="../media/image-35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bis6p_Kvgb/" TargetMode="External"/><Relationship Id="rId3" Type="http://schemas.openxmlformats.org/officeDocument/2006/relationships/hyperlink" Target="https://www.instagram.com/reel/Dbis6p_Kvgb/" TargetMode="External"/><Relationship Id="rId5" Type="http://schemas.openxmlformats.org/officeDocument/2006/relationships/hyperlink" Target="https://www.facebook.com/ads/library/?id=1386431570364820" TargetMode="External"/><Relationship Id="rId6" Type="http://schemas.openxmlformats.org/officeDocument/2006/relationships/hyperlink" Target="https://www.facebook.com/ads/library/?id=1386431570364820" TargetMode="External"/><Relationship Id="rId1" Type="http://schemas.openxmlformats.org/officeDocument/2006/relationships/image" Target="../media/image-36-1.jpg"/><Relationship Id="rId4" Type="http://schemas.openxmlformats.org/officeDocument/2006/relationships/image" Target="../media/image-36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cTSF-4I8w5/" TargetMode="External"/><Relationship Id="rId3" Type="http://schemas.openxmlformats.org/officeDocument/2006/relationships/hyperlink" Target="https://www.instagram.com/p/DcTSF-4I8w5/" TargetMode="External"/><Relationship Id="rId5" Type="http://schemas.openxmlformats.org/officeDocument/2006/relationships/hyperlink" Target="https://www.instagram.com/p/Ddto-4BCPzn/" TargetMode="External"/><Relationship Id="rId6" Type="http://schemas.openxmlformats.org/officeDocument/2006/relationships/hyperlink" Target="https://www.instagram.com/p/Ddto-4BCPzn/" TargetMode="External"/><Relationship Id="rId1" Type="http://schemas.openxmlformats.org/officeDocument/2006/relationships/image" Target="../media/image-37-1.jpg"/><Relationship Id="rId4" Type="http://schemas.openxmlformats.org/officeDocument/2006/relationships/image" Target="../media/image-37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ads/library/?id=3321636538023864" TargetMode="External"/><Relationship Id="rId3" Type="http://schemas.openxmlformats.org/officeDocument/2006/relationships/hyperlink" Target="https://www.facebook.com/ads/library/?id=3321636538023864" TargetMode="External"/><Relationship Id="rId5" Type="http://schemas.openxmlformats.org/officeDocument/2006/relationships/hyperlink" Target="https://www.youtube.com/watch?v=_kFW1VDYPAA" TargetMode="External"/><Relationship Id="rId6" Type="http://schemas.openxmlformats.org/officeDocument/2006/relationships/hyperlink" Target="https://www.youtube.com/watch?v=_kFW1VDYPAA" TargetMode="External"/><Relationship Id="rId1" Type="http://schemas.openxmlformats.org/officeDocument/2006/relationships/image" Target="../media/image-38-1.jpg"/><Relationship Id="rId4" Type="http://schemas.openxmlformats.org/officeDocument/2006/relationships/image" Target="../media/image-38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dy2d8RDMBV/" TargetMode="External"/><Relationship Id="rId3" Type="http://schemas.openxmlformats.org/officeDocument/2006/relationships/hyperlink" Target="https://www.instagram.com/p/Ddy2d8RDMBV/" TargetMode="External"/><Relationship Id="rId1" Type="http://schemas.openxmlformats.org/officeDocument/2006/relationships/image" Target="../media/image-39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code/artifact/b7307ea6-30ea-466f-9f1c-9db21c95589a" TargetMode="External"/><Relationship Id="rId2" Type="http://schemas.openxmlformats.org/officeDocument/2006/relationships/hyperlink" Target="https://github.com/tejassaharan12/Project-management-SD/tree/claude/nifty-tesla-i9gpgr/mcnroe-comp-scan/dat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Scan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D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fragrance and grooming in India, 15 July to 15 October 2026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· BlaBliBlu · Bellavita · indē wild · Secret Alchemist · Beardo · Park Avenue · Engage · Ajmal · EM5 · Fraganote · Plum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· Meta ads · Google ads · Instagram · YouTube · Google Trends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Mcnroe ·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61288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themes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whole category did: Diwali, bundles, oil %, scents, creators, funding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75688"/>
            <a:ext cx="548640" cy="548640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02536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by platform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ads, Google ads, Instagram, YouTube, Google Trends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16936"/>
            <a:ext cx="548640" cy="548640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16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43784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by brand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competitor, all 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548640" cy="548640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58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85032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Mcnroe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calendar, implications, ongoing tracking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selling started on 1 October.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BlaBliBlu, Denver, Fraganote and Bellavita already run festive offers, mostly free gifts and buy-1-get-1.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3” bundles set the price frame: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perfumes for ₹650 (BlaBliBlu) to ₹1,799 (Ajmal).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Perfume-oil % is the quality claim.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now claims 40%, against 25% (BlaBliBlu, Secret Alchemist) and 20% (Denver Intense).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and oud dominate new launches;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floral and women's have few strong voices.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is the heaviest Meta advertiser (960 ads).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ran the biggest paid YouTube push (24M views) with no press coverage.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Contests and stunts win on Instagram,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10 to 40 times normal engagement.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0" y="11430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216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3,387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analysed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24048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663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analysed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7920" y="35204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videos analysed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Meta Ad Library, Google Ads Transparency Center, Instagram Graph API, YouTube Data API, Google Trends, trade press. Pulled 15 October 2026.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tracked 12 brands in four groups across six data layers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matter to Mcnroe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D2C perfume challengers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Bellavita, Fraganote, Secret Alchemist, BlaBliBlu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Digital-first, creator-led, price-value fragrance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deo and fragrance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Denver, Engage, Park Avenue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ATL budgets, set mass category codes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 and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Ajmal, EM5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Oud, attar, gifting and premium cues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Grooming and beauty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Beardo, indē wild, Plum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Stretching into fragrance and mists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press and launches · Meta ads · Google ads · Instagram · YouTube · Google Trends. Window: 15 July to 15 October 2026. Influencer and marketplace tracking were out of scope.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themes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category as a whole did this quarter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defined the category this quarter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moves to EDP; oil % is the 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“Long-lasting” is now a number: 20%, 25%, 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Denver, BlaBliBlu, Bellavita, Beardo, Park Avenue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Z vibe 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Rizz God, Vibe Collection, #OwnTheVibe, Love Drunk, Old Money, Berry Baddie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Denver, Bellavita, BlaBliBlu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Celebrities at the top, celebrity-investors below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SRK and Ranveer Singh are paid faces; Samantha and Suryakumar Yadav hold equity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Denver, Ajmal, Secret Alchemist, EM5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Women's and unisex expansion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Avenue “for Her”, unisex Sports Mode and Love Drunk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Avenue, Fraganote, BlaBliBlu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events as launch pads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 timed to Flipkart Glam Up Fest and Amazon Beautyverse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Beardo, Engage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buys offline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Kiosks and stores: 100 kiosks, 170+ stores, 111 stores planned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Fraganote, Ajmal, EM5, BlaBliBlu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Heritage and ritual stories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 oil, sandalwood nostalgia, oud, Kashmir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wild, Secret Alchemist, Ajmal, EM5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Diwali selling began on 1 October, more than a month before the festival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denver_diwali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80" y="1188720"/>
            <a:ext cx="1415361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1 get 1 + daily MacBook draw, from 13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bbb_diwali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9900" y="1188720"/>
            <a:ext cx="1415361" cy="2514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House Party sale, free gifts, from 1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fraganote_diwali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020" y="1188720"/>
            <a:ext cx="1415361" cy="2514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50 ml sets, Diwali Edit, from 9 Oct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bellavita_gift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6140" y="1188720"/>
            <a:ext cx="1415361" cy="25146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7673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perfumes for ₹1,298, gifting-ready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is on 8 November 2026. Rakhi (August) was the first gifting peak: six brands ran Rakhi gifting. Ads from Meta Ad Library, India.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3” bundles set the price frame: 3 perfumes for ₹650 to ₹1,799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a 3-perfume bundle in Meta ads (₹)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 box appears in 6 of 10 advertisers.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sells 4 perfumes for ₹999; Secret Alchemist 2 × 15 ml for ₹1,099.</a:t>
            </a:r>
            <a:endParaRPr lang="en-US" sz="1200" dirty="0"/>
          </a:p>
        </p:txBody>
      </p:sp>
      <p:pic>
        <p:nvPicPr>
          <p:cNvPr id="6" name="Image 0" descr="/tmp/claude-0/-home-user-Project-management-SD/0fb55814-563c-5ce0-9100-d17133f99727/scratchpad/img/denver_any3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1737360" cy="1737360"/>
          </a:xfrm>
          <a:prstGeom prst="rect">
            <a:avLst/>
          </a:prstGeom>
        </p:spPr>
      </p:pic>
      <p:pic>
        <p:nvPicPr>
          <p:cNvPr id="7" name="Image 1" descr="/tmp/claude-0/-home-user-Project-management-SD/0fb55814-563c-5ce0-9100-d17133f99727/scratchpad/img/bbb_any3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188720"/>
            <a:ext cx="1737360" cy="17373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1206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for ₹1,000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94944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 ₹750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seen in Meta ads, August to October 2026. BlaBliBlu runs ₹650 and ₹750 versions.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Perfume-oil percentage is the quality claim, and Bellavita now claims 40%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Perfume-oil concentration claimed in ads and launches</a:t>
            </a:r>
            <a:endParaRPr lang="en-US" sz="1100" dirty="0"/>
          </a:p>
        </p:txBody>
      </p:sp>
      <p:pic>
        <p:nvPicPr>
          <p:cNvPr id="5" name="Image 0" descr="/tmp/claude-0/-home-user-Project-management-SD/0fb55814-563c-5ce0-9100-d17133f99727/scratchpad/img/bellavita_beast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05" y="1188720"/>
            <a:ext cx="1544030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3504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Beast Mode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Collector's flask with Oud Supreme, 40% oil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claims, not lab-tested. Sources: Meta Ad Library; Denver launch press releases (June and September 2026).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 and oud are this season's scent stories; fresh and floral are less crowded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ig_bbb_gourmand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80" y="1188720"/>
            <a:ext cx="1338159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fruity gourmands, one a day, 21–24 Sep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fraganote_minis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00" y="1188720"/>
            <a:ext cx="1338159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Berry and dessert scents, 25 ml minis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ajmal_oud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1620" y="1188720"/>
            <a:ext cx="1338159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trio: Oud Nirvana, Oud on the Rocks, White Oud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yt_fraganote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1849897"/>
            <a:ext cx="1874520" cy="1055087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Collection launch, 17 Jul (570K views)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Gourmand Trend Series at ₹549 (26 Sep). Rising search: “bella vita perfume pistachio” +400%. Secret Alchemist's jasmine and tuberose are the main floral voice.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Creators front a large share of paid ads, and quick commerce is a common destination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sa_samantha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80" y="1188720"/>
            <a:ext cx="1338159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its top ads run from Samantha's handle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bv_creator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00" y="1188720"/>
            <a:ext cx="1338159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56032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creators post “comment for link” reactions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beardo_creator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1620" y="1188720"/>
            <a:ext cx="1338159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66344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reviews of Godfather Mafia and Revenge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pic>
        <p:nvPicPr>
          <p:cNvPr id="9" name="Image 3" descr="/tmp/claude-0/-home-user-Project-management-SD/0fb55814-563c-5ce0-9100-d17133f99727/scratchpad/img/indewild_creator.jpg">
            <a:hlinkClick r:id="rId11" tooltip="Open sourc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4740" y="1188720"/>
            <a:ext cx="1338159" cy="23774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766560" y="36301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launch ads are creator videos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commerce: 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Engage, Beardo (“in 10 minutes”), Secret Alchemist and Plum send ads straight to Blinkit, Zepto or Instamart.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Male-coded brands are crossing into women's and unisex, and indē wild is entering mists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“for Her” (10 Jul):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Godrej's first women's EDPs, four variants (Poise, Grace, Verve, Allure), pitched for gifting. Barely visible in ads since.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Sports Mode (7 Aug):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50 ml EDP for active lifestyles.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unisex hero scents (Love Drunk) and fruity gourmands aimed at young women.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hair and body mists (Aug):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Heat and Solar Skin, “odour neutralising, mood-boosting”. A well-funded beauty brand now in the mist segment.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Women-first fragrance voices are few: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 (Samantha, florals) and indē wild.</a:t>
            </a:r>
            <a:endParaRPr lang="en-US" sz="1300" dirty="0"/>
          </a:p>
        </p:txBody>
      </p:sp>
      <p:pic>
        <p:nvPicPr>
          <p:cNvPr id="4" name="Image 0" descr="/tmp/claude-0/-home-user-Project-management-SD/0fb55814-563c-5ce0-9100-d17133f99727/scratchpad/img/ig_indewild_mists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731" y="1188720"/>
            <a:ext cx="1595497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Solar Skin mist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August 2026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is going into stores, kiosks and new categories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$3M</a:t>
            </a:r>
            <a:endParaRPr lang="en-US" sz="2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Unilever Ventures-led round (Jan); claims 8x growth in FY26; hair perfumes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280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$3M</a:t>
            </a:r>
            <a:endParaRPr lang="en-US" sz="2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A, V3 Ventures (Jun); kiosks in 14 cities, 100 by year-end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280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 Cr</a:t>
            </a:r>
            <a:endParaRPr lang="en-US" sz="2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run-rate within 6 months (Mar); Delhi NCR stores, pan-India next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170+</a:t>
            </a:r>
            <a:endParaRPr lang="en-US" sz="2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stores targeted by end-2026, tier 2 and 3 focus; first London store (Aug)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→ 111</a:t>
            </a:r>
            <a:endParaRPr lang="en-US" sz="2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EM5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planned; Suryakumar Yadav joined as investor (Feb)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Week, Inc42, Retail4Growth, India Retailing, Business Standard (2026). Growth figures are company claims.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Press-visible campaigns and launches, June to October 2026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420624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or move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/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 Clarifying &amp; Detox Shampoo launch (Nykaa)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Rida Tharana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Rizz God EDP, Gen Z “Vibe Collection”, ₹2,500, 25% oil, D2C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 hair-oil ritual campaign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Anupama Parameswaran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Mode unisex EDP, 50 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Alchemist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Sandalwood Nostalgia; clean, “step up from mass”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Avenue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women's: “for Her” EDP, 4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$3M Series A; 100 kiosks planned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19–20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Godfather Mafia and Revenge (₹1,700) at Flipkart and Amazon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Danish Pandor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Intense EDP, “Success Rules The World” TVC, ₹999, 20% oil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 Rukh Khan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 2026: Ajmal “Your Unseen Power” with Ranveer Singh on 575+ PVR screens (19 Mar); Bellavita #OwnTheVibe with Raghav Juyal (Jan); Plum BodyLovin' relaunch (Apr).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by platform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Google ads · Instagram · YouTube · Google Trends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Beardo ran 960 Meta ads since mid-July, more than twice the next brand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8016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3,387 ads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across 10 brands; we read the 60 most-seen per brand.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catalogue ads for roll-ons.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and EM5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findable Meta advertiser page.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active in India, 15 July to 15 October 2026. Source: Meta Ad Library via Apify.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by brand (1 of 2): the biggest advertisers lead with bundles and creators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384048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top ads push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and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Perfume combos (Mariner, Whisky Smoke Bourbon ₹499), Godfather reviews; also de-tan, curls, beard, trimmers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perfumes ₹999; 1 in 5 top ads from creators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BlaBliBlu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Build-your-own 30 ml box, “25%, 12+ hours”; Diwali House Party sale with free gifts; payday 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for ₹650–750; 38 of top 60 started in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Bellavita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Beast Mode for Men (40% oil), half of top ads; Gourmand Trend Series ₹549; Vanilluxe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2 ₹899, 3 ₹1,298, 4 ₹1,599; regional creators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Alchemist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Perfume (IFRA, 25%); Rare Vanilla “one sold every minute”; Rose Oud; hair perfumes; Instamart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10 ml with 100 ml; half of top ads from Samantha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 trio, Cyan, Aristocrat with Ranveer Singh, gift 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3 ₹1,799; Gold Series ₹899; brand page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by brand (2 of 2): Denver discounts hardest; Engage and Plum sell other categories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3840480"/>
                <a:gridCol w="2468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top ads push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and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Gourmands (Baked Vanilla, Drunken Cake, Devil's Berry), Oud Collection, 25 ml minis, Rakhi box, Diwali 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₹999; personalised gift boxes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3 perfumes ₹1,000; deo packs ₹599–1,200; Autograph 3 for ₹2,500; Diwali BOGO + MacBook; SRK contest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 discounts; 45 of 60 static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Skincare only: CeraSense barrier care, niacinamide serum, dandruff shampoo on Blinkit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for ₹599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Roll-ons only (Amber Fresh, Radiant Glow “skin brightening”, 72-hour), to Blinkit and Zepto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catalogue 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 Clarifying Shampoo (“96 hours oil control”), Dewy Lip Treatment, Sleek Stick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15–20% off duos; mostly creators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Denver, BlaBliBlu and Fraganote ramped up Google ads in September; Bellavita's are a year old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6692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Creatives (cap 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days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 September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BlaBliBlu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Alchemist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Bellavita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23444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creatives = testing.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Denver's median Google ad ran 12 days.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is Meta-only for new work.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Mode and Gourmand never reached Google.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defends search: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 60 are text ads.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Transparency Center, India, 15 Jul–15 Oct 2026. Engage and Park Avenue advertise under ITC and Godrej and could not be separated.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by brand (1 of 2): indē wild and Bellavita post the most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463040"/>
                <a:gridCol w="548640"/>
                <a:gridCol w="8229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(Jul/Aug/Sep/Oct)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eng.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drove the top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(17/54/37/27)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 Morea “interim CEO” (49.7K likes); Sephora UK; summer mists; Bombay Sweet Shop collab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Bellavita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(15/24/29/22)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Rakhi post (9.7K likes); product carousels; CEO Man bigger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(15/26/25/10)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BYOB barrier-care launch party; SPF giveaway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(15/22/22/11)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 battle series to brand anthem “Unstoppable” (10.1K likes)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BlaBliBlu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(12/22/21/14)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fruity gourmands; Diwali “boring gifts are retiring”; Rakhi giveaway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Alchemist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(7/23/18/7)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Gifting Collection (5.2K likes); “four women, one scent”; brand giveaways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API, every post 15 Jul–15 Oct 2026. Median engagement = (likes + comments) ÷ followers per post.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by brand (2 of 2): Denver converts followers best; Park Avenue went quiet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1463040"/>
                <a:gridCol w="548640"/>
                <a:gridCol w="82296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(Jul/Aug/Sep/Oct)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eng.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drove the top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(6/14/19/12)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SRK-birthday iPhone contest (17.4K likes, 21.9K comments); SRK “scent of success”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 (India)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(4/22/11/10)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UK store, London (1 Aug); Vogue Wedding Atelier; 75 years; perfumer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(7/13/10/7)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Hypnotic Oud; Sports Mode; Creme Castle collab; 25 ml minis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(5/6/5/3)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Friendship Day post; perfume myths at Amazon Beautyverse; Maracujá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(2/2/3/1)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“Kashmir” scent; Inglorious Ginger and The Great Oud; coffee car perfume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Avenue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(1/5/0/0)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Refreshed EDPs and new-look Euphoria (Aug); silent since 28 Aug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API, every post 15 Jul–15 Oct 2026.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Instagram, contests and stunts earned 10 to 40 times normal engagement</a:t>
            </a:r>
            <a:endParaRPr lang="en-US" sz="2400" dirty="0"/>
          </a:p>
        </p:txBody>
      </p:sp>
      <p:pic>
        <p:nvPicPr>
          <p:cNvPr id="3" name="Image 0" descr="/tmp/claude-0/-home-user-Project-management-SD/0fb55814-563c-5ce0-9100-d17133f99727/scratchpad/img/ig_denver_contest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188720"/>
            <a:ext cx="1938528" cy="2423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Denver: SRK-birthday iPhone contest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17.4K likes, 21.9K comments (median post: 457 likes)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5" name="Image 1" descr="/tmp/claude-0/-home-user-Project-management-SD/0fb55814-563c-5ce0-9100-d17133f99727/scratchpad/img/ig_indewild_dino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626" y="1188720"/>
            <a:ext cx="1363893" cy="2423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73552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wild: Dino Morea as “interim CEO”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49.7K likes (median post: 391)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pic>
        <p:nvPicPr>
          <p:cNvPr id="7" name="Image 2" descr="/tmp/claude-0/-home-user-Project-management-SD/0fb55814-563c-5ce0-9100-d17133f99727/scratchpad/img/ig_beardo_anthem.jpg">
            <a:hlinkClick r:id="rId8" tooltip="Open sourc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0978" y="1188720"/>
            <a:ext cx="1363893" cy="24231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89904" y="367588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Beardo: brand anthem “Unstoppable”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10.1K likes (median post: 284)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Graph API. Denver's contest image shows its matching Meta ad creative.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Denver and EM5 get the most engagement per follower; the biggest accounts get the least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34440"/>
            <a:ext cx="2651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accounts, low reaction: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(943K), Plum (1.15M) and Beardo (808K).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collabs are cheap reach: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× Bombay Sweet Shop, Fraganote × Creme Castle, Secret Alchemist × Isharya, Winston, Instamart.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(likes + comments) ÷ followers per post. Instagram Graph API, 663 posts.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Engage's regional roll-on ads drew 24M YouTube views, more than all others combined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7548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/tmp/claude-0/-home-user-Project-management-SD/0fb55814-563c-5ce0-9100-d17133f99727/scratchpad/img/yt_engage.jpg">
            <a:hlinkClick r:id="rId3" tooltip="Open sourc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225" y="1188720"/>
            <a:ext cx="2599310" cy="14630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94960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roll-on, Bengali cut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 views, 3 likes: almost all paid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200" dirty="0"/>
          </a:p>
        </p:txBody>
      </p:sp>
      <p:pic>
        <p:nvPicPr>
          <p:cNvPr id="6" name="Image 1" descr="/tmp/claude-0/-home-user-Project-management-SD/0fb55814-563c-5ce0-9100-d17133f99727/scratchpad/img/yt_beardo.jpg">
            <a:hlinkClick r:id="rId6" tooltip="Open source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344418"/>
            <a:ext cx="1600200" cy="90068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132320" y="33375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Godfather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views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API, uploads 1 Jun–15 Oct 2026, views to date.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big YouTube view counts are paid; indē wild is the only all-organic channel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914400"/>
                <a:gridCol w="109728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share (est.)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pushed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uploads in Sep: roll-on ads in Hindi, Bengali, Kannada; Mini Perfume Spray TVC (Assamese)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Fraganote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Oud Collection, Hypnotic Oud; Rakhi sale (45% off + 3 free minis); Drunken Cake review (750K)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Godfather perfume is sold every 15 seconds” (2.9M); brand anthem; curls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Evoke Red gifting films; factory tour; “Authors of Ajmal” perfumer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BlaBliBlu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“Get 6 perfumes free” sampling offer (1.2M); “It's parfum, not perfume”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indē wild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 and desi-beauty community shorts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Intense EDP “Success rules the world” (830K paid); product shorts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 / EM5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 / 0.2M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 / ~79%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Plum: CeraSense skincare. EM5: The Salt, Myself Absolute ₹499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share estimated: videos with 50K+ views and under 0.2% likes plus comments. Quiet since June: Bellavita (last 17 Jan), Secret Alchemist (10 Feb), Park Avenue (Apr 2025).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Beardo and Bellavita lead search interest; Secret Alchemist's doubled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234440"/>
            <a:ext cx="2560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Diwali was Bellavita's and Denver's peak week.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same spike now.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5 July lifted BlaBliBlu, Fraganote and Plum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 marketplace sale.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“bella vita pistachio” +400%, “ceo man” +80%, Wild Stone Edge +150%.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Trends, India, Jul–Oct average (Bellavita = 100); change vs previous 9 months. Engage (1.5) and Park Avenue (1.3) are under-counted.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by brand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competitor: what they launched, advertised and posted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Denver: Shah Rukh Khan at the top, deep bundle discounts underneath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Google ads in Sep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0.30%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engagement (best)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~99% paid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(+11%)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EDP with SRK (3 Jun):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“Success Rules The World” TVC, ₹999, 20% oil.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Rizz God (18 Sep):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“Vibe Collection” EDP, ₹2,500, 25% oil, D2C only.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is all offers: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for ₹1,000, deo packs ₹599–1,200, Diwali buy-1-get-1 + daily MacBook draw.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SRK-birthday contest (Oct):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17.4K likes, 21.9K comments; iPhones as prizes.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at Beautyworld Dubai; Hamilton Intense “SRK collection”.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denver_contest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148840"/>
            <a:ext cx="1463040" cy="18288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SRK contest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denver_diwali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BOGO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BlaBliBlu: ₹100 Cr run-rate in 6 months, now pushing gourmands and Diwali gifts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Google ads in Sep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69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~95% paid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(+45%)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 annual run-rate within 6 months (Mar); sub-₹1,000 parfums, 25% oil.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hook: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build-your-own box, 3 for ₹650–750; “get 6 perfumes free” sampling (1.2M YT views).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drop (21–24 Sep):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Baddie, Watermelon Buddy, Mango So Goated, Happy Bananana.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(from 1 Oct):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Party sale with free shot glasses, candle, card game; “boring gifts are retiring” series.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memes and trends; “Ab machega bhaukaal” tease got 251K views.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bbb_gourmand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drop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bbb_diwali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 sale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Bellavita: biggest following and search share, with all new work on Meta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422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348 days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Google ad 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943K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90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uploads since Jan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(index base)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Beast Mode for Men (24 Jun):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“40% perfume oil”, half of its top Meta ads; Oud Supreme + flask ₹799.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Trend Series (26 Sep):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dessert scents at ₹549; Vanilluxe ₹599.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₹899, 3 ₹1,298, 4 ₹1,599, sold as gifting.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creators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(Tamil, Malayalam, Kannada) run “comment for link” reaction ads.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(+1%); peaked last Diwali; “pistachio” +400%, “ceo man” +80%.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bellavita_gift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₹1,298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bv_creator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ad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indē wild: champi hair care, a global Sephora push and a move into mists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creatives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posts (most)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all organic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(−8%)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Sephora US (Mar) and Sephora UK Carnaby store (Jul).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with Anupama Parameswaran (Aug); Clarifying &amp; Detox Shampoo on Nykaa (30 Sep) with Rida Tharana.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fragrance: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and body mists After Heat and Solar Skin (Aug).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Stunts and collabs: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Morea “interim CEO” (49.7K likes); Bombay Sweet Shop Rakhi box; founder birthday sale 29% off.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creator videos; “96 hours oil control” claim.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indewild_dino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Morea stunt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ig_indewild_mists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Skin mist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Alchemist: clean, premium, Samantha-led, and search interest doubled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days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Google ad 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55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uploads since Feb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(+102%)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led by Unilever Ventures (Jan); claims 8x growth in FY26.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Perfume (IFRA, 25%); Sandalwood Nostalgia (Jul); Rare Vanilla “one sold every minute”; Rose Oud; hair perfumes.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Collection (6 Aug):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through Rakhi; gift boxes from ₹1,299.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 fronts half its top ads;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“four women, one scent” series; now on Swiggy Instamart.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Isharya, Winston and Dyson × Instamart.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sa_samantha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 ad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ig_sa_fourwomen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86019"/>
            <a:ext cx="1463040" cy="19544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women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Beardo: the heaviest advertiser, built around the Godfather perfume franchise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(most)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of 60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are text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70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~15% paid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(+23%)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Godfather franchise: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with Danish Pandor (Apr); Mafia and Revenge (₹1,700) at Flipkart Glam Up Fest and Amazon Beautyverse (Jun).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“Sold every 15 seconds”: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YouTube views.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anthem “Unstoppable” (25 Sep):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July rap battle series; 10.1K likes.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perfumes ₹999, Whisky Smoke Bourbon ₹499; de-tan, curls and beard kits; Blinkit “in 10 minutes”.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peaked 4 Oct,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the 12 (includes grooming searches).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beardo_anthem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anthem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beardo_4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 ₹999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 Avenue: a women's launch and a refresh in July and August, then silence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 page found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under Godrej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6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uploads since 2025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(flat)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Her” (10 Jul):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Godrej's first women's EDPs, four variants (Poise, Grace, Verve, Allure), pitched for gifting.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(Aug):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new-look EDP collection and Euphoria; one boosted reel reached 597K views.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28 Aug: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Instagram posts, no YouTube uploads.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separable from Godrej's accounts on Meta or Google.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brand with a new women's range and little visible support behind it.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pa_euphoria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761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607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New-look Euphoria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Engage: invisible in the press, but the biggest paid YouTube push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(all roll-ons)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under ITC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19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24.0M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~100% paid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(under-counted)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burst (Sep):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roll-on ads in Hindi, Bengali and Kannada; one cut reached 9.4M views.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Roll-ons: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Glow “instant skin brightening”, Amber Fresh “72 hours”, FreshEnCap technology.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catalogue ads linking to Blinkit and Zepto.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Perfume Spray TVC (Assamese, Jun); Maracujá range at Amazon Beautyverse; Verona.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mass player is fighting on deo roll-ons and regional reach, not fine fragrance.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engage_roll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331720"/>
            <a:ext cx="1463040" cy="1463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Radiant Glow ad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yt_engage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51499"/>
            <a:ext cx="1463040" cy="82348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9.4M-view cut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Ajmal: oud heritage, Ranveer Singh and a fast retail expansion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339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days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Google ad 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47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views, ~42% paid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(+39%)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Ranveer Singh (Mar):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Saif Ali Khan; “Your Unseen Power” on 575+ PVR screens.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170+ exclusive stores by end-2026; first UK store, Westfield London (1 Aug).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Vogue Wedding Atelier masterclass, Umang, GQ Heroes event scent, AYC Mumbai.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years of Ajmal; “Authors of Ajmal” master-perfumer series.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trio, Cyan; any 3 ₹1,799; Gold Series gift set ₹899.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ajmal_london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store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ajmal_oud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856" y="2057400"/>
            <a:ext cx="1132288" cy="2011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trio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EM5: a small online footprint, a cricket-star investor and story-led scents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Meta page found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creatives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8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(+23%)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Suryakumar Yadav (Feb):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and partner; Kachra Seth parody video.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 stores, 111 planned; airport sampling; 70–80% of sales online.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“Kashmir” (Jul–Aug); Inglorious Ginger and The Great Oud (25 Sep); DriveTherapy coffee car perfume (9 Sep).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Myself Absolute EDP at ₹499.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per follower (0.23%) from very few posts.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em5_kashmir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Kashmir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ig_em5_launch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48840"/>
            <a:ext cx="1463040" cy="18288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launches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Fraganote: the most consistent publisher, built on gourmand and oud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Google ads in Sep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90K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37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 (92 uploads)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(+15%)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 Series A (Jun); kiosks in 14 cities, 100 by year-end.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Collection (17 Jul), Hypnotic Oud, Sports Mode (7 Aug), 25 ml minis (18 Sep).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Vanilla, Drunken Cake (750K YT views), Devil's Berry; Creme Castle bonbon collab.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Rakhi sale up to 45% off + 3 free minis; Diwali Edit (9 Oct).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Google creatives (median 20 days) = constant testing.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fraganote_minis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376" y="2057400"/>
            <a:ext cx="1132288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1500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ml minis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ad</a:t>
            </a:r>
            <a:endParaRPr lang="en-US" sz="950" dirty="0"/>
          </a:p>
        </p:txBody>
      </p:sp>
      <p:pic>
        <p:nvPicPr>
          <p:cNvPr id="16" name="Image 1" descr="/tmp/claude-0/-home-user-Project-management-SD/0fb55814-563c-5ce0-9100-d17133f99727/scratchpad/img/yt_fraganote.jpg">
            <a:hlinkClick r:id="rId5" tooltip="Open sourc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651499"/>
            <a:ext cx="1463040" cy="82348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4114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Collection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Plum: all skincare this quarter; fragrance sits with BodyLovin'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(skincare)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30552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creatives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03904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followers, 76 posts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77256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96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0.3M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views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50608" y="1170432"/>
            <a:ext cx="1536192" cy="713232"/>
          </a:xfrm>
          <a:prstGeom prst="roundRect">
            <a:avLst>
              <a:gd name="adj" fmla="val 10256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1216152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(−37%)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574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BodyLovin' relaunch (Apr):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identity, 16 launches, offbeat lip balms; heavy OTT and vernacular YouTube plans.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CeraSense barrier care and the “BYOB” Delhi party; niacinamide jelly serum.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skincare only; 3 for ₹599; dandruff shampoo on Blinkit.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active fragrance competitor this quarter; watch BodyLovin' mists.</a:t>
            </a:r>
            <a:endParaRPr lang="en-US" sz="1200" dirty="0"/>
          </a:p>
        </p:txBody>
      </p:sp>
      <p:pic>
        <p:nvPicPr>
          <p:cNvPr id="14" name="Image 0" descr="/tmp/claude-0/-home-user-Project-management-SD/0fb55814-563c-5ce0-9100-d17133f99727/scratchpad/img/ig_plum_byob.jpg">
            <a:hlinkClick r:id="rId2" tooltip="Open source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38" y="2057400"/>
            <a:ext cx="2017444" cy="2011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7607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BYOB party</a:t>
            </a:r>
            <a:endParaRPr lang="en-US" sz="950" dirty="0"/>
          </a:p>
          <a:p>
            <a:pPr indent="0" marL="0">
              <a:buNone/>
            </a:pPr>
            <a:r>
              <a:rPr lang="en-US" sz="95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post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= ads active since 15 Jul. IG = Instagram, 15 Jul–15 Oct. YT = YouTube uploads since 1 Jun. Search = Google Trends index (Bellavita = 100).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D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Mcnroe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calendar, implications and how we keep tracking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Competitors launched something almost every week from July to October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Hypnotic Oud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rap battle series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Sephora UK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Ajmal first London store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Alchemist Gifting Collection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Sports Mode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new-look EDPs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404164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indē wild hair and body mists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Rizz God (Gen Z)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25 ml minis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21–24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 4 gourmands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Beardo anthem “Unstoppable”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4041648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1ECEE"/>
          </a:solidFill>
          <a:ln w="12700">
            <a:solidFill>
              <a:srgbClr val="F1EC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Bellavita Gourmand series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66560" y="162763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1655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BlaBliBlu Diwali sale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66560" y="2231136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SRK iPhone contest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66560" y="283464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Fraganote Diwali Edit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3438144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3E7EC"/>
          </a:solidFill>
          <a:ln w="12700">
            <a:solidFill>
              <a:srgbClr val="F3E7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Diwali buy 1 get 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Avenue “for Her” launched 10 July, just before the window.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Mcnroe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79576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4300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Diwali with a gifting idea, not a deeper discount.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brands already run buy-1-get-1 and free-gift offers.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2821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proof of longevity.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print 20–40% oil; name a concentration or tested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13432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singles against “any 3 for ₹1,000”.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see 3-perfume bundles from ₹650 every day.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9864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where it's less crowded.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and floral scents, and women's, have few strong voices.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8386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creator-run ads and quick commerce.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normal for Secret Alchemist, Bellavita, Beardo and Engage.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05656"/>
            <a:ext cx="402336" cy="402336"/>
          </a:xfrm>
          <a:prstGeom prst="ellipse">
            <a:avLst/>
          </a:prstGeom>
          <a:solidFill>
            <a:srgbClr val="7A2E4F"/>
          </a:solidFill>
          <a:ln w="12700">
            <a:solidFill>
              <a:srgbClr val="7A2E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0690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launches around marketplace events. </a:t>
            </a:r>
            <a:pPr indent="0" marL="0">
              <a:buNone/>
            </a:pPr>
            <a:r>
              <a:rPr lang="en-US" sz="14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Glam Up Fest, Amazon Beautyverse and festive sales.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Repeating this scan every 3 months costs about $19 in data fees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quarterly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 (all ads)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 Facebook Ads Library Scraper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 Google Ads Transparency Scraper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(every post)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Graph API (set 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Data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Trends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 Google Trends Scraper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and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23444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 per scan; one Apify Starter month ($19) covers it.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sentiment, ~$15 more per quarter.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anywhere: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ad spend and reach.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this scan was made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657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 Library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for 10 brands; top 60 ads each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Ads Transparency Center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60 creatives per brand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 Graph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663 posts, 12 brands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Data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390 uploads since 1 June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Trends (Apify)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brands, India, 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press and press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Launches, funding, campaigns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</a:t>
            </a:r>
            <a:pPr indent="0" marL="0">
              <a:buNone/>
            </a:pPr>
            <a:r>
              <a:rPr lang="en-US" sz="13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Competitor Scan doc</a:t>
            </a:r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Raw data: </a:t>
            </a:r>
            <a:pPr indent="0" marL="0">
              <a:buNone/>
            </a:pPr>
            <a:r>
              <a:rPr lang="en-US" sz="1300" u="sng" dirty="0">
                <a:solidFill>
                  <a:srgbClr val="7A2E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repository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no source gives competitor ad spend or reach; YouTube paid views are inferred from like rates; brand claims (oil %, growth) are unverified; press-release figures are company claims.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Scan: Full Report, Jul to Oct 2026</dc:title>
  <dc:subject>PptxGenJS Presentation</dc:subject>
  <dc:creator>PptxGenJS</dc:creator>
  <cp:lastModifiedBy>PptxGenJS</cp:lastModifiedBy>
  <cp:revision>1</cp:revision>
  <dcterms:created xsi:type="dcterms:W3CDTF">2026-10-19T07:11:21Z</dcterms:created>
  <dcterms:modified xsi:type="dcterms:W3CDTF">2026-10-19T07:11:21Z</dcterms:modified>
</cp:coreProperties>
</file>