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of 3 perfumes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BlaBliBlu</c:v>
                  </c:pt>
                  <c:pt idx="1">
                    <c:v>Denver</c:v>
                  </c:pt>
                  <c:pt idx="2">
                    <c:v>Bellavita</c:v>
                  </c:pt>
                  <c:pt idx="3">
                    <c:v>Ajmal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650</c:v>
                </c:pt>
                <c:pt idx="1">
                  <c:v>1000</c:v>
                </c:pt>
                <c:pt idx="2">
                  <c:v>1298</c:v>
                </c:pt>
                <c:pt idx="3">
                  <c:v>1799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%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Bellavita Beast Mode</c:v>
                  </c:pt>
                  <c:pt idx="1">
                    <c:v>BlaBliBlu</c:v>
                  </c:pt>
                  <c:pt idx="2">
                    <c:v>Secret Alchemist</c:v>
                  </c:pt>
                  <c:pt idx="3">
                    <c:v>Denver Rizz God</c:v>
                  </c:pt>
                  <c:pt idx="4">
                    <c:v>Denver Intense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 ads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Beardo</c:v>
                  </c:pt>
                  <c:pt idx="1">
                    <c:v>BlaBliBlu</c:v>
                  </c:pt>
                  <c:pt idx="2">
                    <c:v>Bellavita</c:v>
                  </c:pt>
                  <c:pt idx="3">
                    <c:v>Secret Alchemist</c:v>
                  </c:pt>
                  <c:pt idx="4">
                    <c:v>Ajmal</c:v>
                  </c:pt>
                  <c:pt idx="5">
                    <c:v>Fraganote</c:v>
                  </c:pt>
                  <c:pt idx="6">
                    <c:v>Denver</c:v>
                  </c:pt>
                  <c:pt idx="7">
                    <c:v>Plum</c:v>
                  </c:pt>
                  <c:pt idx="8">
                    <c:v>Engage</c:v>
                  </c:pt>
                  <c:pt idx="9">
                    <c:v>indē wild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960</c:v>
                </c:pt>
                <c:pt idx="1">
                  <c:v>429</c:v>
                </c:pt>
                <c:pt idx="2">
                  <c:v>422</c:v>
                </c:pt>
                <c:pt idx="3">
                  <c:v>373</c:v>
                </c:pt>
                <c:pt idx="4">
                  <c:v>339</c:v>
                </c:pt>
                <c:pt idx="5">
                  <c:v>231</c:v>
                </c:pt>
                <c:pt idx="6">
                  <c:v>219</c:v>
                </c:pt>
                <c:pt idx="7">
                  <c:v>215</c:v>
                </c:pt>
                <c:pt idx="8">
                  <c:v>127</c:v>
                </c:pt>
                <c:pt idx="9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Denver</c:v>
                  </c:pt>
                  <c:pt idx="1">
                    <c:v>EM5</c:v>
                  </c:pt>
                  <c:pt idx="2">
                    <c:v>indē wild</c:v>
                  </c:pt>
                  <c:pt idx="3">
                    <c:v>Fraganote</c:v>
                  </c:pt>
                  <c:pt idx="4">
                    <c:v>BlaBliBlu</c:v>
                  </c:pt>
                  <c:pt idx="5">
                    <c:v>Secret Alchemist</c:v>
                  </c:pt>
                  <c:pt idx="6">
                    <c:v>Engage</c:v>
                  </c:pt>
                  <c:pt idx="7">
                    <c:v>Ajmal</c:v>
                  </c:pt>
                  <c:pt idx="8">
                    <c:v>Park Avenue</c:v>
                  </c:pt>
                  <c:pt idx="9">
                    <c:v>Bellavita</c:v>
                  </c:pt>
                  <c:pt idx="10">
                    <c:v>Beardo</c:v>
                  </c:pt>
                  <c:pt idx="11">
                    <c:v>Plum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</c:v>
                </c:pt>
                <c:pt idx="1">
                  <c:v>0.23</c:v>
                </c:pt>
                <c:pt idx="2">
                  <c:v>0.16</c:v>
                </c:pt>
                <c:pt idx="3">
                  <c:v>0.15</c:v>
                </c:pt>
                <c:pt idx="4">
                  <c:v>0.12</c:v>
                </c:pt>
                <c:pt idx="5">
                  <c:v>0.11</c:v>
                </c:pt>
                <c:pt idx="6">
                  <c:v>0.11</c:v>
                </c:pt>
                <c:pt idx="7">
                  <c:v>0.1</c:v>
                </c:pt>
                <c:pt idx="8">
                  <c:v>0.06</c:v>
                </c:pt>
                <c:pt idx="9">
                  <c:v>0.04</c:v>
                </c:pt>
                <c:pt idx="10">
                  <c:v>0.04</c:v>
                </c:pt>
                <c:pt idx="11">
                  <c:v>0.03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Engage</c:v>
                  </c:pt>
                  <c:pt idx="1">
                    <c:v>Fraganote</c:v>
                  </c:pt>
                  <c:pt idx="2">
                    <c:v>Beardo</c:v>
                  </c:pt>
                  <c:pt idx="3">
                    <c:v>Ajmal</c:v>
                  </c:pt>
                  <c:pt idx="4">
                    <c:v>BlaBliBlu</c:v>
                  </c:pt>
                  <c:pt idx="5">
                    <c:v>indē wild</c:v>
                  </c:pt>
                  <c:pt idx="6">
                    <c:v>Denver</c:v>
                  </c:pt>
                  <c:pt idx="7">
                    <c:v>Plum</c:v>
                  </c:pt>
                  <c:pt idx="8">
                    <c:v>EM5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5</c:v>
                </c:pt>
                <c:pt idx="2">
                  <c:v>3.6</c:v>
                </c:pt>
                <c:pt idx="3">
                  <c:v>3.6</c:v>
                </c:pt>
                <c:pt idx="4">
                  <c:v>1.6</c:v>
                </c:pt>
                <c:pt idx="5">
                  <c:v>0.9</c:v>
                </c:pt>
                <c:pt idx="6">
                  <c:v>0.8</c:v>
                </c:pt>
                <c:pt idx="7">
                  <c:v>0.3</c:v>
                </c:pt>
                <c:pt idx="8">
                  <c:v>0.2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Beardo (+23%)</c:v>
                  </c:pt>
                  <c:pt idx="1">
                    <c:v>Bellavita (+1%)</c:v>
                  </c:pt>
                  <c:pt idx="2">
                    <c:v>Ajmal (+39%)</c:v>
                  </c:pt>
                  <c:pt idx="3">
                    <c:v>Denver (+11%)</c:v>
                  </c:pt>
                  <c:pt idx="4">
                    <c:v>Secret Alchemist (+102%)</c:v>
                  </c:pt>
                  <c:pt idx="5">
                    <c:v>indē wild (−8%)</c:v>
                  </c:pt>
                  <c:pt idx="6">
                    <c:v>BlaBliBlu (+45%)</c:v>
                  </c:pt>
                  <c:pt idx="7">
                    <c:v>Fraganote (+15%)</c:v>
                  </c:pt>
                  <c:pt idx="8">
                    <c:v>EM5 (+23%)</c:v>
                  </c:pt>
                  <c:pt idx="9">
                    <c:v>Plum (−37%)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215</c:v>
                </c:pt>
                <c:pt idx="1">
                  <c:v>100</c:v>
                </c:pt>
                <c:pt idx="2">
                  <c:v>69</c:v>
                </c:pt>
                <c:pt idx="3">
                  <c:v>44</c:v>
                </c:pt>
                <c:pt idx="4">
                  <c:v>24</c:v>
                </c:pt>
                <c:pt idx="5">
                  <c:v>20</c:v>
                </c:pt>
                <c:pt idx="6">
                  <c:v>16</c:v>
                </c:pt>
                <c:pt idx="7">
                  <c:v>12</c:v>
                </c:pt>
                <c:pt idx="8">
                  <c:v>11</c:v>
                </c:pt>
                <c:pt idx="9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1682182016627692" TargetMode="External"/><Relationship Id="rId3" Type="http://schemas.openxmlformats.org/officeDocument/2006/relationships/hyperlink" Target="https://www.facebook.com/ads/library/?id=1682182016627692" TargetMode="External"/><Relationship Id="rId5" Type="http://schemas.openxmlformats.org/officeDocument/2006/relationships/hyperlink" Target="https://www.facebook.com/ads/library/?id=1120945223949430" TargetMode="External"/><Relationship Id="rId6" Type="http://schemas.openxmlformats.org/officeDocument/2006/relationships/hyperlink" Target="https://www.facebook.com/ads/library/?id=1120945223949430" TargetMode="External"/><Relationship Id="rId8" Type="http://schemas.openxmlformats.org/officeDocument/2006/relationships/hyperlink" Target="https://www.facebook.com/ads/library/?id=1099477846400349" TargetMode="External"/><Relationship Id="rId9" Type="http://schemas.openxmlformats.org/officeDocument/2006/relationships/hyperlink" Target="https://www.facebook.com/ads/library/?id=1099477846400349" TargetMode="External"/><Relationship Id="rId11" Type="http://schemas.openxmlformats.org/officeDocument/2006/relationships/hyperlink" Target="https://www.facebook.com/ads/library/?id=1857699968551871" TargetMode="External"/><Relationship Id="rId12" Type="http://schemas.openxmlformats.org/officeDocument/2006/relationships/hyperlink" Target="https://www.facebook.com/ads/library/?id=1857699968551871" TargetMode="External"/><Relationship Id="rId1" Type="http://schemas.openxmlformats.org/officeDocument/2006/relationships/image" Target="../media/image-3-1.jpg"/><Relationship Id="rId4" Type="http://schemas.openxmlformats.org/officeDocument/2006/relationships/image" Target="../media/image-3-2.jpg"/><Relationship Id="rId7" Type="http://schemas.openxmlformats.org/officeDocument/2006/relationships/image" Target="../media/image-3-3.jpg"/><Relationship Id="rId10" Type="http://schemas.openxmlformats.org/officeDocument/2006/relationships/image" Target="../media/image-3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ds/library/?id=1056971747174261" TargetMode="External"/><Relationship Id="rId5" Type="http://schemas.openxmlformats.org/officeDocument/2006/relationships/hyperlink" Target="https://www.facebook.com/ads/library/?id=4368131670107780" TargetMode="External"/><Relationship Id="rId6" Type="http://schemas.openxmlformats.org/officeDocument/2006/relationships/hyperlink" Target="https://www.facebook.com/ads/library/?id=1056971747174261" TargetMode="External"/><Relationship Id="rId7" Type="http://schemas.openxmlformats.org/officeDocument/2006/relationships/hyperlink" Target="https://www.facebook.com/ads/library/?id=4368131670107780" TargetMode="External"/><Relationship Id="rId1" Type="http://schemas.openxmlformats.org/officeDocument/2006/relationships/chart" Target="/ppt/charts/chart1.xml"/><Relationship Id="rId2" Type="http://schemas.openxmlformats.org/officeDocument/2006/relationships/image" Target="../media/image-4-1.jpg"/><Relationship Id="rId4" Type="http://schemas.openxmlformats.org/officeDocument/2006/relationships/image" Target="../media/image-4-2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ds/library/?id=1624086922459794" TargetMode="External"/><Relationship Id="rId4" Type="http://schemas.openxmlformats.org/officeDocument/2006/relationships/hyperlink" Target="https://www.facebook.com/ads/library/?id=1624086922459794" TargetMode="External"/><Relationship Id="rId1" Type="http://schemas.openxmlformats.org/officeDocument/2006/relationships/chart" Target="/ppt/charts/chart2.xml"/><Relationship Id="rId2" Type="http://schemas.openxmlformats.org/officeDocument/2006/relationships/image" Target="../media/image-5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1504595238140864" TargetMode="External"/><Relationship Id="rId3" Type="http://schemas.openxmlformats.org/officeDocument/2006/relationships/hyperlink" Target="https://www.facebook.com/ads/library/?id=1504595238140864" TargetMode="External"/><Relationship Id="rId5" Type="http://schemas.openxmlformats.org/officeDocument/2006/relationships/hyperlink" Target="https://www.facebook.com/ads/library/?id=1424103276286535" TargetMode="External"/><Relationship Id="rId6" Type="http://schemas.openxmlformats.org/officeDocument/2006/relationships/hyperlink" Target="https://www.facebook.com/ads/library/?id=1424103276286535" TargetMode="External"/><Relationship Id="rId8" Type="http://schemas.openxmlformats.org/officeDocument/2006/relationships/hyperlink" Target="https://www.facebook.com/ads/library/?id=1067788085734527" TargetMode="External"/><Relationship Id="rId9" Type="http://schemas.openxmlformats.org/officeDocument/2006/relationships/hyperlink" Target="https://www.facebook.com/ads/library/?id=1067788085734527" TargetMode="External"/><Relationship Id="rId11" Type="http://schemas.openxmlformats.org/officeDocument/2006/relationships/hyperlink" Target="https://www.facebook.com/ads/library/?id=1061679276873849" TargetMode="External"/><Relationship Id="rId12" Type="http://schemas.openxmlformats.org/officeDocument/2006/relationships/hyperlink" Target="https://www.facebook.com/ads/library/?id=1061679276873849" TargetMode="External"/><Relationship Id="rId1" Type="http://schemas.openxmlformats.org/officeDocument/2006/relationships/image" Target="../media/image-7-1.jpg"/><Relationship Id="rId4" Type="http://schemas.openxmlformats.org/officeDocument/2006/relationships/image" Target="../media/image-7-2.jpg"/><Relationship Id="rId7" Type="http://schemas.openxmlformats.org/officeDocument/2006/relationships/image" Target="../media/image-7-3.jpg"/><Relationship Id="rId10" Type="http://schemas.openxmlformats.org/officeDocument/2006/relationships/image" Target="../media/image-7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djavNQTsed/" TargetMode="External"/><Relationship Id="rId3" Type="http://schemas.openxmlformats.org/officeDocument/2006/relationships/hyperlink" Target="https://www.instagram.com/reel/DdjavNQTsed/" TargetMode="External"/><Relationship Id="rId5" Type="http://schemas.openxmlformats.org/officeDocument/2006/relationships/hyperlink" Target="https://www.facebook.com/ads/library/?id=3321636538023864" TargetMode="External"/><Relationship Id="rId6" Type="http://schemas.openxmlformats.org/officeDocument/2006/relationships/hyperlink" Target="https://www.facebook.com/ads/library/?id=3321636538023864" TargetMode="External"/><Relationship Id="rId8" Type="http://schemas.openxmlformats.org/officeDocument/2006/relationships/hyperlink" Target="https://www.facebook.com/ads/library/?id=1386431570364820" TargetMode="External"/><Relationship Id="rId9" Type="http://schemas.openxmlformats.org/officeDocument/2006/relationships/hyperlink" Target="https://www.facebook.com/ads/library/?id=1386431570364820" TargetMode="External"/><Relationship Id="rId11" Type="http://schemas.openxmlformats.org/officeDocument/2006/relationships/hyperlink" Target="https://www.youtube.com/watch?v=_kFW1VDYPAA" TargetMode="External"/><Relationship Id="rId12" Type="http://schemas.openxmlformats.org/officeDocument/2006/relationships/hyperlink" Target="https://www.youtube.com/watch?v=_kFW1VDYPAA" TargetMode="External"/><Relationship Id="rId1" Type="http://schemas.openxmlformats.org/officeDocument/2006/relationships/image" Target="../media/image-8-1.jpg"/><Relationship Id="rId4" Type="http://schemas.openxmlformats.org/officeDocument/2006/relationships/image" Target="../media/image-8-2.jpg"/><Relationship Id="rId7" Type="http://schemas.openxmlformats.org/officeDocument/2006/relationships/image" Target="../media/image-8-3.jpg"/><Relationship Id="rId10" Type="http://schemas.openxmlformats.org/officeDocument/2006/relationships/image" Target="../media/image-8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eB_bpOkZ5x/" TargetMode="External"/><Relationship Id="rId3" Type="http://schemas.openxmlformats.org/officeDocument/2006/relationships/hyperlink" Target="https://www.instagram.com/p/DeB_bpOkZ5x/" TargetMode="External"/><Relationship Id="rId5" Type="http://schemas.openxmlformats.org/officeDocument/2006/relationships/hyperlink" Target="https://www.instagram.com/reel/DcykcH-ul7B/" TargetMode="External"/><Relationship Id="rId6" Type="http://schemas.openxmlformats.org/officeDocument/2006/relationships/hyperlink" Target="https://www.instagram.com/reel/DcykcH-ul7B/" TargetMode="External"/><Relationship Id="rId8" Type="http://schemas.openxmlformats.org/officeDocument/2006/relationships/hyperlink" Target="https://www.instagram.com/reel/DdtdGB1pPxw/" TargetMode="External"/><Relationship Id="rId9" Type="http://schemas.openxmlformats.org/officeDocument/2006/relationships/hyperlink" Target="https://www.instagram.com/reel/DdtdGB1pPxw/" TargetMode="External"/><Relationship Id="rId1" Type="http://schemas.openxmlformats.org/officeDocument/2006/relationships/image" Target="../media/image-10-1.jpg"/><Relationship Id="rId4" Type="http://schemas.openxmlformats.org/officeDocument/2006/relationships/image" Target="../media/image-10-2.jpg"/><Relationship Id="rId7" Type="http://schemas.openxmlformats.org/officeDocument/2006/relationships/image" Target="../media/image-10-3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pHySVBnido" TargetMode="External"/><Relationship Id="rId4" Type="http://schemas.openxmlformats.org/officeDocument/2006/relationships/hyperlink" Target="https://www.youtube.com/watch?v=TpHySVBnido" TargetMode="External"/><Relationship Id="rId6" Type="http://schemas.openxmlformats.org/officeDocument/2006/relationships/hyperlink" Target="https://www.youtube.com/watch?v=AbEH-c62jwA" TargetMode="External"/><Relationship Id="rId7" Type="http://schemas.openxmlformats.org/officeDocument/2006/relationships/hyperlink" Target="https://www.youtube.com/watch?v=AbEH-c62jwA" TargetMode="External"/><Relationship Id="rId1" Type="http://schemas.openxmlformats.org/officeDocument/2006/relationships/chart" Target="/ppt/charts/chart5.xml"/><Relationship Id="rId2" Type="http://schemas.openxmlformats.org/officeDocument/2006/relationships/image" Target="../media/image-12-1.jpg"/><Relationship Id="rId5" Type="http://schemas.openxmlformats.org/officeDocument/2006/relationships/image" Target="../media/image-12-2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code/artifact/b7307ea6-30ea-466f-9f1c-9db21c95589a" TargetMode="External"/><Relationship Id="rId2" Type="http://schemas.openxmlformats.org/officeDocument/2006/relationships/hyperlink" Target="https://github.com/tejassaharan12/Project-management-SD/tree/claude/nifty-tesla-i9gpgr/mcnroe-comp-scan/dat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Scan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and grooming in India, 15 July to 15 October 2026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· BlaBliBlu · Bellavita · indē wild · Secret Alchemist · Beardo · Park Avenue · Engage · Ajmal · EM5 · Fraganote · Plum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Mcnroe ·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selling started on 1 October.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BlaBliBlu, Denver, Fraganote and Bellavita already run festive offers on Meta.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3” bundles set the price frame: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perfumes for ₹650 (BlaBliBlu) to ₹1,799 (Ajmal).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Perfume-oil % is the quality claim.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now claims 40%, against the usual 25%.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is the heaviest Meta advertiser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(960 ads); Engage ran the biggest paid YouTube push (24M views) with no press coverage.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Contests and stunts win on Instagram,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10 to 40 times normal engagement.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0" y="1143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55080" y="1216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3,387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analysed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24048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663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 analysed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0" y="35204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35935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videos analysed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Meta Ad Library, Google Ads Transparency Center, Instagram Graph API, YouTube Data API, Google Trends, trade press. Pulled 15 October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Diwali selling began on 1 October, more than a month before the festival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denver_diwali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80" y="1188720"/>
            <a:ext cx="1415361" cy="2514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1 get 1 + daily MacBook draw, from 13 Oct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bbb_diwali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900" y="1188720"/>
            <a:ext cx="1415361" cy="2514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House Party sale, free gifts, from 1 Oct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fraganote_diwali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020" y="1188720"/>
            <a:ext cx="1415361" cy="2514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50 ml sets, Diwali Edit, from 9 Oct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9" name="Image 3" descr="/tmp/claude-0/-home-user-Project-management-SD/0fb55814-563c-5ce0-9100-d17133f99727/scratchpad/img/bellavita_gift.jpg">
            <a:hlinkClick r:id="rId11" tooltip="Open sourc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6140" y="1188720"/>
            <a:ext cx="1415361" cy="25146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perfumes for ₹1,298, gifting-ready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is on 8 November 2026. Ads from Meta Ad Library, India; click an image to open the ad.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“Any 3” bundles set the price frame: 3 perfumes for ₹650 to ₹1,799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a 3-perfume bundle in Meta ads (₹)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Build-your-own box appears in 6 of 10 advertisers.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sells 4 perfumes for ₹999.</a:t>
            </a:r>
            <a:endParaRPr lang="en-US" sz="1200" dirty="0"/>
          </a:p>
        </p:txBody>
      </p:sp>
      <p:pic>
        <p:nvPicPr>
          <p:cNvPr id="6" name="Image 0" descr="/tmp/claude-0/-home-user-Project-management-SD/0fb55814-563c-5ce0-9100-d17133f99727/scratchpad/img/denver_any3.jpg">
            <a:hlinkClick r:id="rId3" tooltip="Open sourc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1737360" cy="1737360"/>
          </a:xfrm>
          <a:prstGeom prst="rect">
            <a:avLst/>
          </a:prstGeom>
        </p:spPr>
      </p:pic>
      <p:pic>
        <p:nvPicPr>
          <p:cNvPr id="7" name="Image 1" descr="/tmp/claude-0/-home-user-Project-management-SD/0fb55814-563c-5ce0-9100-d17133f99727/scratchpad/img/bbb_any3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88720"/>
            <a:ext cx="1737360" cy="17373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1206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for ₹1,000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9494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 ₹750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seen in Meta ads, August to October 2026. BlaBliBlu runs ₹650 and ₹750 versions.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Perfume-oil percentage is the quality claim, and Bellavita now claims 40%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Perfume-oil concentration claimed in ads and launches</a:t>
            </a:r>
            <a:endParaRPr lang="en-US" sz="1100" dirty="0"/>
          </a:p>
        </p:txBody>
      </p:sp>
      <p:pic>
        <p:nvPicPr>
          <p:cNvPr id="5" name="Image 0" descr="/tmp/claude-0/-home-user-Project-management-SD/0fb55814-563c-5ce0-9100-d17133f99727/scratchpad/img/bellavita_beast.jpg">
            <a:hlinkClick r:id="rId3" tooltip="Open sourc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905" y="1188720"/>
            <a:ext cx="1544030" cy="2743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3504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Beast Mode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Collector's flask with Oud Supreme, 40% oil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claims, not lab-tested. Sources: Meta Ad Library; Denver launch press releases (June and September 2026).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Beardo ran 960 Meta ads since mid-July, more than twice the next brand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28016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spend across perfume combos, de-tan, beard and curl kits.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catalogue ads for roll-ons, linking to Blinkit and Zepto.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Avenue and EM5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findable Meta advertiser page.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active in India, 15 July to 15 October 2026. Source: Meta Ad Library via Apify.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Creators front a large share of paid ads, and quick commerce is a common destination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sa_samantha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80" y="1188720"/>
            <a:ext cx="1338159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Alchemist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its top ads run from Samantha's handle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bv_creator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500" y="1188720"/>
            <a:ext cx="1338159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creators post “comment for link” reactions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beardo_creator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1620" y="1188720"/>
            <a:ext cx="1338159" cy="23774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reviews of Godfather Mafia and Revenge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9" name="Image 3" descr="/tmp/claude-0/-home-user-Project-management-SD/0fb55814-563c-5ce0-9100-d17133f99727/scratchpad/img/indewild_creator.jpg">
            <a:hlinkClick r:id="rId11" tooltip="Open sourc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4740" y="1188720"/>
            <a:ext cx="1338159" cy="23774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launch ads are creator videos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commerce: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Engage, Beardo, Secret Alchemist and Plum send ads straight to Blinkit, Zepto or Instamart.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 and oud are this season's scent stories; fresh and floral are less crowded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ig_bbb_gourmand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80" y="1188720"/>
            <a:ext cx="1338159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fruity gourmands, one a day, 21–24 Sep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fraganote_minis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500" y="1188720"/>
            <a:ext cx="1338159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Berry and dessert scents, new 25 ml minis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ajmal_oud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1620" y="1188720"/>
            <a:ext cx="1338159" cy="23774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trio: Oud Nirvana, Oud on the Rocks, White Oud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9" name="Image 3" descr="/tmp/claude-0/-home-user-Project-management-SD/0fb55814-563c-5ce0-9100-d17133f99727/scratchpad/img/yt_fraganote.jpg">
            <a:hlinkClick r:id="rId11" tooltip="Open sourc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1849897"/>
            <a:ext cx="1874520" cy="1055087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Collection launch, 17 Jul (570K views)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Bellavita's Gourmand Trend Series at ₹549 (26 Sep). Secret Alchemist's jasmine and tuberose are the main floral voice.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Denver, BlaBliBlu and Fraganote ramped up Google ads in September; Bellavita's are a year old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Creatives (cap 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days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 September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BlaBliBlu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Alchemist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Bellavita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creatives = testing.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Denver's median Google ad ran 12 days; it launched 40 new ones in September.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is Meta-only for new work.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Mode and Gourmand never reached its Google ads.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Transparency Center, India, ads shown 15 Jul–15 Oct 2026. Engage and Park Avenue advertise under ITC and Godrej and could not be separated.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Instagram, contests and stunts earned 10 to 40 times normal engagement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ig_denver_contest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188720"/>
            <a:ext cx="1938528" cy="2423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Denver: SRK-birthday iPhone contest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17.4K likes, 21.9K comments (median post: 457 likes)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ig_indewild_dino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626" y="1188720"/>
            <a:ext cx="1363893" cy="2423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73552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wild: Dino Morea as “interim CEO”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49.7K likes (median post: 391)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ig_beardo_anthem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0978" y="1188720"/>
            <a:ext cx="1363893" cy="24231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89904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Beardo: brand anthem “Unstoppable”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10.1K likes (median post: 284)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 (Business Discovery), all posts 15 Jul–15 Oct 2026. Denver's contest image shows its matching Meta ad creative.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Denver and EM5 get the most engagement per follower; the biggest accounts get the least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3444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(likes + comments) ÷ followers per post.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(943K), Plum (1.15M) and Beardo (808K) </a:t>
            </a:r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often but convert few followers into reactions.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 posts most: </a:t>
            </a:r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posts in 3 months, 84% reels.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API, 663 posts from 12 accounts, 15 Jul–15 Oct 2026.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Engage's regional roll-on ads drew 24M YouTube views, more than all others combined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7548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/tmp/claude-0/-home-user-Project-management-SD/0fb55814-563c-5ce0-9100-d17133f99727/scratchpad/img/yt_engage.jpg">
            <a:hlinkClick r:id="rId3" tooltip="Open sourc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225" y="1188720"/>
            <a:ext cx="2599310" cy="1463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94960" y="2697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roll-on, Bengali cut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9.4M views, 3 likes: almost all paid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200" dirty="0"/>
          </a:p>
        </p:txBody>
      </p:sp>
      <p:pic>
        <p:nvPicPr>
          <p:cNvPr id="6" name="Image 1" descr="/tmp/claude-0/-home-user-Project-management-SD/0fb55814-563c-5ce0-9100-d17133f99727/scratchpad/img/yt_beardo.jpg">
            <a:hlinkClick r:id="rId6" tooltip="Open sourc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344418"/>
            <a:ext cx="1600200" cy="90068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132320" y="3337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Godfather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2.9M views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API, uploads 1 Jun–15 Oct 2026, views to date. Bellavita, Secret Alchemist and Park Avenue posted nothing since June.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Beardo and Bellavita lead search interest; Secret Alchemist's doubled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23444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interest in India, Jul–Oct (Bellavita = 100); change vs the previous 9 months in brackets.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Diwali was Bellavita's and Denver's peak search week. </a:t>
            </a:r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 same spike now.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via Apify, India, 12 Oct 2025–14 Oct 2026. Engage and Park Avenue are under-counted (people search the product, not the brand).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Competitors launched something almost every week from July to October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Hypnotic Oud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rap battle series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 first London store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Alchemist Gifting Collection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283464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Sports Mode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343814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Avenue new-look EDPs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4041648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 hair and body mists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Rizz God (Gen Z)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25 ml minis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21–24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 4 gourmands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43814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anthem “Unstoppable”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4041648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Gourmand series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 Diwali sale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SRK iPhone contest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66560" y="283464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Diwali Edit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66560" y="343814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Diwali buy 1 get 1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Instagram, YouTube, Meta Ad Library and press releases. Park Avenue “for Her” launched 10 July, just before the window.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Mcnroe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25296"/>
            <a:ext cx="438912" cy="438912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25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Diwali with a gifting idea, not a deeper discount. </a:t>
            </a:r>
            <a:pPr indent="0" marL="0">
              <a:buNone/>
            </a:pPr>
            <a:r>
              <a:rPr lang="en-US" sz="15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brands already run buy-1-get-1 and free-gift offers.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11096"/>
            <a:ext cx="438912" cy="438912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11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74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proof of longevity. </a:t>
            </a:r>
            <a:pPr indent="0" marL="0">
              <a:buNone/>
            </a:pPr>
            <a:r>
              <a:rPr lang="en-US" sz="15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print 20–40% oil; name a concentration or tested hours.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438912" cy="438912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60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singles against “any 3 for ₹1,000”. </a:t>
            </a:r>
            <a:pPr indent="0" marL="0">
              <a:buNone/>
            </a:pPr>
            <a:r>
              <a:rPr lang="en-US" sz="15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see 3-perfume bundles from ₹650 every day.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438912" cy="438912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where it's less crowded. </a:t>
            </a:r>
            <a:pPr indent="0" marL="0">
              <a:buNone/>
            </a:pPr>
            <a:r>
              <a:rPr lang="en-US" sz="15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and floral scents, and women's, have few strong voices.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438912" cy="438912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creator-run ads and quick commerce. </a:t>
            </a:r>
            <a:pPr indent="0" marL="0">
              <a:buNone/>
            </a:pPr>
            <a:r>
              <a:rPr lang="en-US" sz="15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now normal for Secret Alchemist, Bellavita, Beardo and Engage.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how this scan was made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 Library (Apify)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for 10 brands; top 60 ads each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 Transparency Center (Apify)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60 creatives per 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Graph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663 posts, 12 brands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Data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390 uploads since 1 June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Trends (Apify)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brands, India, 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press and press releases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Launches, funding, campaigns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write-up: </a:t>
            </a:r>
            <a:pPr indent="0" marL="0">
              <a:buNone/>
            </a:pPr>
            <a:r>
              <a:rPr lang="en-US" sz="13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Competitor Scan doc</a:t>
            </a:r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Raw data: </a:t>
            </a:r>
            <a:pPr indent="0" marL="0">
              <a:buNone/>
            </a:pPr>
            <a:r>
              <a:rPr lang="en-US" sz="13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repository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no source gives competitor ad spend or reach; YouTube paid views are inferred from like rates; brand claims (oil %, growth) are unverified.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Competitor Scan: Fragrance and Grooming, Jul to Oct 2026</dc:title>
  <dc:subject>PptxGenJS Presentation</dc:subject>
  <dc:creator>PptxGenJS</dc:creator>
  <cp:lastModifiedBy>PptxGenJS</cp:lastModifiedBy>
  <cp:revision>1</cp:revision>
  <dcterms:created xsi:type="dcterms:W3CDTF">2026-10-19T06:44:06Z</dcterms:created>
  <dcterms:modified xsi:type="dcterms:W3CDTF">2026-10-19T06:44:06Z</dcterms:modified>
</cp:coreProperties>
</file>